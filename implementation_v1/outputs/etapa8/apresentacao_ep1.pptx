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eafc5cec44090" /><Relationship Type="http://schemas.openxmlformats.org/officeDocument/2006/relationships/extended-properties" Target="/docProps/app.xml" Id="R792fe647c4c34ef6" /><Relationship Type="http://schemas.openxmlformats.org/officeDocument/2006/relationships/officeDocument" Target="/ppt/presentation.xml" Id="Rea2529288dac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804e6328c41cf"/>
  </p:sldMasterIdLst>
  <p:notesMasterIdLst>
    <p:notesMasterId xmlns:r="http://schemas.openxmlformats.org/officeDocument/2006/relationships" r:id="R793ab415973b4750"/>
  </p:notesMasterIdLst>
  <p:sldIdLst>
    <p:sldId xmlns:r="http://schemas.openxmlformats.org/officeDocument/2006/relationships" id="256" r:id="Ra8d270898ac14a23"/>
    <p:sldId xmlns:r="http://schemas.openxmlformats.org/officeDocument/2006/relationships" id="257" r:id="R8c7942e02af04ad6"/>
    <p:sldId xmlns:r="http://schemas.openxmlformats.org/officeDocument/2006/relationships" id="258" r:id="R0d03f352d6b240ab"/>
    <p:sldId xmlns:r="http://schemas.openxmlformats.org/officeDocument/2006/relationships" id="259" r:id="R7fa262ef279748a9"/>
    <p:sldId xmlns:r="http://schemas.openxmlformats.org/officeDocument/2006/relationships" id="260" r:id="Rb71e8d8545f54bf2"/>
    <p:sldId xmlns:r="http://schemas.openxmlformats.org/officeDocument/2006/relationships" id="261" r:id="Rebada8c139354697"/>
    <p:sldId xmlns:r="http://schemas.openxmlformats.org/officeDocument/2006/relationships" id="262" r:id="Rb639c546bc67430e"/>
    <p:sldId xmlns:r="http://schemas.openxmlformats.org/officeDocument/2006/relationships" id="263" r:id="R73735ee7d48e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8fd4951d74afb" /><Relationship Type="http://schemas.openxmlformats.org/officeDocument/2006/relationships/slideMaster" Target="/ppt/slideMasters/slideMaster1.xml" Id="R768804e6328c41cf" /><Relationship Type="http://schemas.openxmlformats.org/officeDocument/2006/relationships/notesMaster" Target="/ppt/notesMasters/notesMaster1.xml" Id="R793ab415973b4750" /><Relationship Type="http://schemas.openxmlformats.org/officeDocument/2006/relationships/presProps" Target="/ppt/presProps.xml" Id="R7d2ec35e61294b27" /><Relationship Type="http://schemas.openxmlformats.org/officeDocument/2006/relationships/tableStyles" Target="/ppt/tableStyles.xml" Id="Rff6a6c19c5c8447c" /><Relationship Type="http://schemas.openxmlformats.org/officeDocument/2006/relationships/slide" Target="/ppt/slides/slide1.xml" Id="Ra8d270898ac14a23" /><Relationship Type="http://schemas.openxmlformats.org/officeDocument/2006/relationships/slide" Target="/ppt/slides/slide2.xml" Id="R8c7942e02af04ad6" /><Relationship Type="http://schemas.openxmlformats.org/officeDocument/2006/relationships/slide" Target="/ppt/slides/slide3.xml" Id="R0d03f352d6b240ab" /><Relationship Type="http://schemas.openxmlformats.org/officeDocument/2006/relationships/slide" Target="/ppt/slides/slide4.xml" Id="R7fa262ef279748a9" /><Relationship Type="http://schemas.openxmlformats.org/officeDocument/2006/relationships/slide" Target="/ppt/slides/slide5.xml" Id="Rb71e8d8545f54bf2" /><Relationship Type="http://schemas.openxmlformats.org/officeDocument/2006/relationships/slide" Target="/ppt/slides/slide6.xml" Id="Rebada8c139354697" /><Relationship Type="http://schemas.openxmlformats.org/officeDocument/2006/relationships/slide" Target="/ppt/slides/slide7.xml" Id="Rb639c546bc67430e" /><Relationship Type="http://schemas.openxmlformats.org/officeDocument/2006/relationships/slide" Target="/ppt/slides/slide8.xml" Id="R73735ee7d48e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13aa93ca04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7c00d769b4d20" /><Relationship Type="http://schemas.openxmlformats.org/officeDocument/2006/relationships/notesMaster" Target="/ppt/notesMasters/notesMaster1.xml" Id="R016216cee219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5f9dbd821493a" /><Relationship Type="http://schemas.openxmlformats.org/officeDocument/2006/relationships/notesMaster" Target="/ppt/notesMasters/notesMaster1.xml" Id="R1a67deda7bb644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7458ac8e84e4a" /><Relationship Type="http://schemas.openxmlformats.org/officeDocument/2006/relationships/notesMaster" Target="/ppt/notesMasters/notesMaster1.xml" Id="Rc9af27e27f1143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7956ca30e4f79" /><Relationship Type="http://schemas.openxmlformats.org/officeDocument/2006/relationships/notesMaster" Target="/ppt/notesMasters/notesMaster1.xml" Id="R0c75cce64cf648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68005197eb455f" /><Relationship Type="http://schemas.openxmlformats.org/officeDocument/2006/relationships/notesMaster" Target="/ppt/notesMasters/notesMaster1.xml" Id="Rd92ff94d23f24c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c3f92d35484421" /><Relationship Type="http://schemas.openxmlformats.org/officeDocument/2006/relationships/notesMaster" Target="/ppt/notesMasters/notesMaster1.xml" Id="Re4d004505c874f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e3fe61bb654ec4" /><Relationship Type="http://schemas.openxmlformats.org/officeDocument/2006/relationships/notesMaster" Target="/ppt/notesMasters/notesMaster1.xml" Id="R3164a5f6865a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e8e2a6636c4efd" /><Relationship Type="http://schemas.openxmlformats.org/officeDocument/2006/relationships/notesMaster" Target="/ppt/notesMasters/notesMaster1.xml" Id="Raf7c51e2482748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tarefa e os integrantes. Substituir os placeholders antes da apresentação. Fonte: enunciado do EP1 e relatório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reports/etapa1_audit.md e reports/etapa7_inferencia.md. Não apresentar distribuição de predições como acurácia.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reports/etapa1_audit.md e reports/etapa5f_holdout_audit.md. A normalização NFC, casefold e colapso de espaços foi usada somente para a chave de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reports/etapa4_search.md e reports/etapa5e_final_spec.md. Não alegar superioridade estável com base na triagem inicial.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reports/etapa5e_final_spec.md. A seleção por acurácia foi pré-fixada; o fold 3 ficou abaixo do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reports/etapa5f_holdout_audit.md e reports/etapa5f_tfidf_holdout_comparison.md. A vantagem descritiva em acurácia é pequena; o TF-IDF obteve macro F1 maior.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reports/etapa6_final.md e reports/etapa7_inferencia.md. O checkpoint final inclui as linhas antes usadas no holdout; não atribuir a ele a métrica da auditoria.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relatórios das etapas 5f, 6 e 7. Para reproduzir, consultar o README do repositório, obter os dados pelo canal autorizado e usar GPU ROCm compatível.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544ed60bc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a3856a14e14226" /><Relationship Type="http://schemas.openxmlformats.org/officeDocument/2006/relationships/slideLayout" Target="/ppt/slideLayouts/slideLayout1.xml" Id="Rd62bd64cf0564e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2bd64cf0564e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f704997304393" /><Relationship Type="http://schemas.openxmlformats.org/officeDocument/2006/relationships/notesSlide" Target="/ppt/notesSlides/notesSlide1.xml" Id="R96426a9c4ed1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e2b3536a47a0" /><Relationship Type="http://schemas.openxmlformats.org/officeDocument/2006/relationships/notesSlide" Target="/ppt/notesSlides/notesSlide2.xml" Id="Rf4df2a78de9e4e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08fa1f02f480f" /><Relationship Type="http://schemas.openxmlformats.org/officeDocument/2006/relationships/notesSlide" Target="/ppt/notesSlides/notesSlide3.xml" Id="Rc9640b88efd048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5831517dd4409" /><Relationship Type="http://schemas.openxmlformats.org/officeDocument/2006/relationships/notesSlide" Target="/ppt/notesSlides/notesSlide4.xml" Id="R310edd743d5140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ac52e03214f80" /><Relationship Type="http://schemas.openxmlformats.org/officeDocument/2006/relationships/notesSlide" Target="/ppt/notesSlides/notesSlide5.xml" Id="Rb28664491d044e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18bec90c9440f" /><Relationship Type="http://schemas.openxmlformats.org/officeDocument/2006/relationships/notesSlide" Target="/ppt/notesSlides/notesSlide6.xml" Id="R9236096508b843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23f0c09244f01" /><Relationship Type="http://schemas.openxmlformats.org/officeDocument/2006/relationships/notesSlide" Target="/ppt/notesSlides/notesSlide7.xml" Id="Rdd0f17424108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67b5d30e3464b" /><Relationship Type="http://schemas.openxmlformats.org/officeDocument/2006/relationships/notesSlide" Target="/ppt/notesSlides/notesSlide8.xml" Id="R11eac95ca05a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981D2-CDEA-4963-8A10-2C36979A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Clareza das respostas e-SIC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786C0-71C6-4725-B5F7-B9A562AB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6C94"/>
                </a:solidFill>
                <a:latin typeface="Arial"/>
                <a:ea typeface="Arial"/>
                <a:cs typeface="Arial"/>
              </a:rPr>
              <a:t>Classificação em três classes com BERTimbau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8B2C8-FD22-462A-9528-0E6F7B2E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EP1  •  ACH2118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86804-8628-497F-B010-64F1729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[NOMES E NÚMEROS USP DOS INTEGRANTES]</a:t>
            </a:r>
          </a:p>
        </p:txBody>
      </p:sp>
    </p:spTree>
    <p:extLst>
      <p:ext uri="{BB962C8B-B14F-4D97-AF65-F5344CB8AC3E}">
        <p14:creationId xmlns:p14="http://schemas.microsoft.com/office/powerpoint/2010/main" val="2107682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E1D95-CF38-4B5A-92DE-63A5E7AE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Tarefa e conjunto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CD036-25C2-4829-8E24-F1AF14FC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02BE6-C415-4916-86F0-6E234CD4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20.092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ADE8F-37B0-4CA1-A2A5-674772DF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respostas rotuladas para treino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99259-840A-4533-8BB4-B61263D2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c1: 6.347    c234: 6.853    c5: 6.892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C4F42-02A6-4D46-9CC8-1B7B3AC7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900 respostas sem rótulo no arquivo de teste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D6756-7B7A-42E0-B4EC-D5250829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A métrica de teste não pode ser calculada sem rótulos.</a:t>
            </a:r>
          </a:p>
        </p:txBody>
      </p:sp>
    </p:spTree>
    <p:extLst>
      <p:ext uri="{BB962C8B-B14F-4D97-AF65-F5344CB8AC3E}">
        <p14:creationId xmlns:p14="http://schemas.microsoft.com/office/powerpoint/2010/main" val="1178297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9089D-7AF2-4B15-A9D4-10E356BA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Divisão e prevenção de vazamento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B702A-2387-4C12-833D-EC9696BE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F9A2D-E547-4A9D-BE3F-D9C29BD1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17.068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3ADD-9F5C-49A8-B568-2390462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desenvolvimento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220C0-11CE-4F39-9A10-5A9218CC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3.024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50D92-649D-4599-ACFE-31D196A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holdout externo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D7FA2-2AEE-47E6-963E-AFB29F8B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Três folds internos com StratifiedGroupKFold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2F7E6-415D-4E65-BA9A-23F9AE5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Textos equivalentes permanecem no mesmo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8BA46-AD9A-40FF-8720-EA55DCC3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Holdout consultado uma vez, após congelar a configuração</a:t>
            </a:r>
          </a:p>
        </p:txBody>
      </p:sp>
    </p:spTree>
    <p:extLst>
      <p:ext uri="{BB962C8B-B14F-4D97-AF65-F5344CB8AC3E}">
        <p14:creationId xmlns:p14="http://schemas.microsoft.com/office/powerpoint/2010/main" val="2055434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C5F17-C72F-40B6-BBBC-D4E93EE9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Busca e escolha do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2986D-75B8-46F0-A1F7-BF0C0DC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9FBC1-832A-4A3F-898F-D32EEED9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BERTimbau Base com cabeça nova para c1, c234 e c5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33783-8649-44CB-8DCD-3083EBF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8 combinações: posição do texto, 256 ou 512 tokens,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490A3-EF02-4BE5-A3F7-35222C2D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taxa de 2 × 10⁻⁵ ou 3 × 10⁻⁵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CD89F-7FD1-4887-A475-4656C30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Escolhido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2B2D0-E343-407F-AAD2-1FAE195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início + 512 tokens + 2 × 10⁻⁵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5BEB-EA62-4D9C-B3B9-71E5245C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Regra prévia: maior acurácia média nos três folds</a:t>
            </a:r>
          </a:p>
        </p:txBody>
      </p:sp>
    </p:spTree>
    <p:extLst>
      <p:ext uri="{BB962C8B-B14F-4D97-AF65-F5344CB8AC3E}">
        <p14:creationId xmlns:p14="http://schemas.microsoft.com/office/powerpoint/2010/main" val="230060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C422A-7C01-4607-98CE-92CE672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Confirmação nos três folds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892DC-797F-4FA6-956B-30D8801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36AAF-4E9D-4BA2-BA97-EFCA88E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45,007%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08BBC-8DA2-47DE-BE14-BC36B52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527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acurácia média do BERTimbau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7158C-E926-4F4D-9DCC-4A44545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TF-IDF + regressão logística: 44,705%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38758-B245-49C5-8D9E-CE26D0D1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Diferença média: +0,302 ponto percentual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21E4D-1BED-485E-B28B-5E2758B3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Variação entre folds maior que essa diferença</a:t>
            </a:r>
          </a:p>
        </p:txBody>
      </p:sp>
    </p:spTree>
    <p:extLst>
      <p:ext uri="{BB962C8B-B14F-4D97-AF65-F5344CB8AC3E}">
        <p14:creationId xmlns:p14="http://schemas.microsoft.com/office/powerpoint/2010/main" val="976120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A45BE-9D02-4C01-88C2-5F2BEDF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Holdout na mesma divisão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A8205-73BC-42CB-9E84-FC0EE84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DC661-6145-44F7-9EE1-589EAF9C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45,966%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A3846-F3B7-4E19-850D-F6CD0D46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BERTimbau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360BB-BA20-46E8-B39A-FA2FCDB7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573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45,437%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6D1BF-B58F-4B6E-85EB-A13073B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14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TF-IDF + regressão logística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71715-25BC-4A27-877F-AE70DA88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16 acertos adicionais para o BERT em 3.024 casos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E3BED-4A93-4702-8F4D-B8CAF30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Macro F1: BERT 44,523%; TF-IDF 45,056%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6D891-01EB-4674-8A5E-507DF84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McNemar exato: p = 0,590</a:t>
            </a:r>
          </a:p>
        </p:txBody>
      </p:sp>
    </p:spTree>
    <p:extLst>
      <p:ext uri="{BB962C8B-B14F-4D97-AF65-F5344CB8AC3E}">
        <p14:creationId xmlns:p14="http://schemas.microsoft.com/office/powerpoint/2010/main" val="1130179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FB415-EC76-4A08-B5E8-595B84AA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Treino final e inferência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B551A-5FD1-4AD2-B78C-FC0AB4EF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6A215-F981-4348-B405-2C450903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20.092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59140-4D59-491B-B7BB-1B66E90A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955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exemplos usados no ajuste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AC2B2-92EC-4118-9D56-95079A37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4.523 atualizações do otimizador, sem ajuste no holdout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C5FF7-2D9E-44CD-A49E-2184388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Modelo salvo e aplicado a 900 respostas de teste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9ACC3-A2A4-45B1-BD55-DE2D93E9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900 rótulos preenchidos em test1_predito.xlsx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1189-7E71-4B75-8CA8-EC9EB0EE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Acurácia de teste: indisponível sem gabarito</a:t>
            </a:r>
          </a:p>
        </p:txBody>
      </p:sp>
    </p:spTree>
    <p:extLst>
      <p:ext uri="{BB962C8B-B14F-4D97-AF65-F5344CB8AC3E}">
        <p14:creationId xmlns:p14="http://schemas.microsoft.com/office/powerpoint/2010/main" val="2019251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7ECAC-FAA6-437F-971E-3EA82A6C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Conclusões e reprodução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7B037-ADB9-433A-A5C2-AEF45F70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9ECD8-92F8-474C-90D0-0C776781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BERTimbau foi o escolhido pela regra de acurácia prévia.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9D2CA-4790-4199-8B9B-7B7FEA1A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 diferença para TF-IDF no holdout é pequena.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33BCA-60FC-4C53-806B-7087C3A7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 recall de c234 foi 24,131%: principal limitação.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A1AB2-4CF8-486E-90D1-012B01C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Código e configuração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70A31-8137-4C1D-9E32-C677A5C5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28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github.com/Zennitte/ep1-claridade-esic-bertimbau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CDE23-D433-4F23-9958-7D3F472F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4"/>
                </a:solidFill>
                <a:latin typeface="Arial"/>
                <a:ea typeface="Arial"/>
                <a:cs typeface="Arial"/>
              </a:rPr>
              <a:t>Relatório no Google Docs; apresentação em Google Slides</a:t>
            </a:r>
          </a:p>
        </p:txBody>
      </p:sp>
    </p:spTree>
    <p:extLst>
      <p:ext uri="{BB962C8B-B14F-4D97-AF65-F5344CB8AC3E}">
        <p14:creationId xmlns:p14="http://schemas.microsoft.com/office/powerpoint/2010/main" val="706188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2026-09-26T22:13:38.5220000Z</dcterms:created>
  <dcterms:modified xsi:type="dcterms:W3CDTF">2026-09-26T22:13:38.5220000Z</dcterms:modified>
</coreProperties>
</file>